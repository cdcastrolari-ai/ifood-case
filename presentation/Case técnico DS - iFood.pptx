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Montserrat"/>
      <p:regular r:id="rId9"/>
      <p:bold r:id="rId10"/>
      <p:italic r:id="rId11"/>
      <p:boldItalic r:id="rId12"/>
    </p:embeddedFont>
    <p:embeddedFont>
      <p:font typeface="Noto Serif Bengali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italic.fntdata"/><Relationship Id="rId10" Type="http://schemas.openxmlformats.org/officeDocument/2006/relationships/font" Target="fonts/Montserrat-bold.fntdata"/><Relationship Id="rId13" Type="http://schemas.openxmlformats.org/officeDocument/2006/relationships/font" Target="fonts/NotoSerifBengali-regular.fntdata"/><Relationship Id="rId12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Montserrat-regular.fntdata"/><Relationship Id="rId14" Type="http://schemas.openxmlformats.org/officeDocument/2006/relationships/font" Target="fonts/NotoSerifBengali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73a4894a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73a4894a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73a4894a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b73a4894a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70fc6d70d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70fc6d70d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900" y="0"/>
            <a:ext cx="4456500" cy="5143500"/>
          </a:xfrm>
          <a:prstGeom prst="rect">
            <a:avLst/>
          </a:prstGeom>
          <a:solidFill>
            <a:srgbClr val="F9F2E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4460400" y="1016850"/>
            <a:ext cx="4683600" cy="30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●"/>
            </a:pPr>
            <a:r>
              <a:rPr lang="pt-BR" sz="1100">
                <a:latin typeface="Montserrat"/>
                <a:ea typeface="Montserrat"/>
                <a:cs typeface="Montserrat"/>
                <a:sym typeface="Montserrat"/>
              </a:rPr>
              <a:t>Base de transações relacionadas a ofertas promocionais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○"/>
            </a:pPr>
            <a:r>
              <a:rPr lang="pt-BR" sz="1100">
                <a:latin typeface="Montserrat"/>
                <a:ea typeface="Montserrat"/>
                <a:cs typeface="Montserrat"/>
                <a:sym typeface="Montserrat"/>
              </a:rPr>
              <a:t>~</a:t>
            </a:r>
            <a:r>
              <a:rPr b="1" lang="pt-BR" sz="1100">
                <a:latin typeface="Montserrat"/>
                <a:ea typeface="Montserrat"/>
                <a:cs typeface="Montserrat"/>
                <a:sym typeface="Montserrat"/>
              </a:rPr>
              <a:t>15 mil</a:t>
            </a:r>
            <a:r>
              <a:rPr lang="pt-BR" sz="1100">
                <a:latin typeface="Montserrat"/>
                <a:ea typeface="Montserrat"/>
                <a:cs typeface="Montserrat"/>
                <a:sym typeface="Montserrat"/>
              </a:rPr>
              <a:t> clientes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○"/>
            </a:pPr>
            <a:r>
              <a:rPr lang="pt-BR" sz="1100">
                <a:latin typeface="Montserrat"/>
                <a:ea typeface="Montserrat"/>
                <a:cs typeface="Montserrat"/>
                <a:sym typeface="Montserrat"/>
              </a:rPr>
              <a:t>+</a:t>
            </a:r>
            <a:r>
              <a:rPr b="1" lang="pt-BR" sz="1100">
                <a:latin typeface="Montserrat"/>
                <a:ea typeface="Montserrat"/>
                <a:cs typeface="Montserrat"/>
                <a:sym typeface="Montserrat"/>
              </a:rPr>
              <a:t>270 mil</a:t>
            </a:r>
            <a:r>
              <a:rPr lang="pt-BR" sz="1100">
                <a:latin typeface="Montserrat"/>
                <a:ea typeface="Montserrat"/>
                <a:cs typeface="Montserrat"/>
                <a:sym typeface="Montserrat"/>
              </a:rPr>
              <a:t> transações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○"/>
            </a:pPr>
            <a:r>
              <a:rPr lang="pt-BR" sz="1100">
                <a:latin typeface="Montserrat"/>
                <a:ea typeface="Montserrat"/>
                <a:cs typeface="Montserrat"/>
                <a:sym typeface="Montserrat"/>
              </a:rPr>
              <a:t>+</a:t>
            </a:r>
            <a:r>
              <a:rPr b="1" lang="pt-BR" sz="1100">
                <a:latin typeface="Montserrat"/>
                <a:ea typeface="Montserrat"/>
                <a:cs typeface="Montserrat"/>
                <a:sym typeface="Montserrat"/>
              </a:rPr>
              <a:t>29 mil</a:t>
            </a:r>
            <a:r>
              <a:rPr lang="pt-BR" sz="1100">
                <a:latin typeface="Montserrat"/>
                <a:ea typeface="Montserrat"/>
                <a:cs typeface="Montserrat"/>
                <a:sym typeface="Montserrat"/>
              </a:rPr>
              <a:t> compras realizadas com ofertas</a:t>
            </a:r>
            <a:br>
              <a:rPr lang="pt-BR" sz="1100"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●"/>
            </a:pPr>
            <a:r>
              <a:rPr lang="pt-BR" sz="1100">
                <a:latin typeface="Montserrat"/>
                <a:ea typeface="Montserrat"/>
                <a:cs typeface="Montserrat"/>
                <a:sym typeface="Montserrat"/>
              </a:rPr>
              <a:t>Período: 30 dias</a:t>
            </a:r>
            <a:br>
              <a:rPr lang="pt-BR" sz="1100"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●"/>
            </a:pPr>
            <a:r>
              <a:rPr lang="pt-BR" sz="1100">
                <a:latin typeface="Montserrat"/>
                <a:ea typeface="Montserrat"/>
                <a:cs typeface="Montserrat"/>
                <a:sym typeface="Montserrat"/>
              </a:rPr>
              <a:t>Tipos de ofertas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○"/>
            </a:pPr>
            <a:r>
              <a:rPr lang="pt-BR" sz="1100">
                <a:latin typeface="Montserrat"/>
                <a:ea typeface="Montserrat"/>
                <a:cs typeface="Montserrat"/>
                <a:sym typeface="Montserrat"/>
              </a:rPr>
              <a:t>Bogo (</a:t>
            </a:r>
            <a:r>
              <a:rPr i="1" lang="pt-BR" sz="1100">
                <a:latin typeface="Montserrat"/>
                <a:ea typeface="Montserrat"/>
                <a:cs typeface="Montserrat"/>
                <a:sym typeface="Montserrat"/>
              </a:rPr>
              <a:t>buy one, get one</a:t>
            </a:r>
            <a:r>
              <a:rPr lang="pt-BR" sz="1100">
                <a:latin typeface="Montserrat"/>
                <a:ea typeface="Montserrat"/>
                <a:cs typeface="Montserrat"/>
                <a:sym typeface="Montserrat"/>
              </a:rPr>
              <a:t>): Compre um e leve outro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○"/>
            </a:pPr>
            <a:r>
              <a:rPr lang="pt-BR" sz="1100">
                <a:latin typeface="Montserrat"/>
                <a:ea typeface="Montserrat"/>
                <a:cs typeface="Montserrat"/>
                <a:sym typeface="Montserrat"/>
              </a:rPr>
              <a:t>Desconto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○"/>
            </a:pPr>
            <a:r>
              <a:rPr lang="pt-BR" sz="1100">
                <a:latin typeface="Montserrat"/>
                <a:ea typeface="Montserrat"/>
                <a:cs typeface="Montserrat"/>
                <a:sym typeface="Montserrat"/>
              </a:rPr>
              <a:t>Informacional</a:t>
            </a:r>
            <a:br>
              <a:rPr lang="pt-BR" sz="1100"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●"/>
            </a:pPr>
            <a:r>
              <a:rPr lang="pt-BR" sz="1100">
                <a:latin typeface="Montserrat"/>
                <a:ea typeface="Montserrat"/>
                <a:cs typeface="Montserrat"/>
                <a:sym typeface="Montserrat"/>
              </a:rPr>
              <a:t>Características das ofertas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○"/>
            </a:pPr>
            <a:r>
              <a:rPr lang="pt-BR" sz="1100">
                <a:latin typeface="Montserrat"/>
                <a:ea typeface="Montserrat"/>
                <a:cs typeface="Montserrat"/>
                <a:sym typeface="Montserrat"/>
              </a:rPr>
              <a:t>Valor mínimo para a oferta ser ativada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○"/>
            </a:pPr>
            <a:r>
              <a:rPr lang="pt-BR" sz="1100">
                <a:latin typeface="Montserrat"/>
                <a:ea typeface="Montserrat"/>
                <a:cs typeface="Montserrat"/>
                <a:sym typeface="Montserrat"/>
              </a:rPr>
              <a:t>Tempo de duração da oferta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○"/>
            </a:pPr>
            <a:r>
              <a:rPr lang="pt-BR" sz="1100">
                <a:latin typeface="Montserrat"/>
                <a:ea typeface="Montserrat"/>
                <a:cs typeface="Montserrat"/>
                <a:sym typeface="Montserrat"/>
              </a:rPr>
              <a:t>Desconto aplicado na oferta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9200" y="4460275"/>
            <a:ext cx="683225" cy="683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" name="Google Shape;57;p13"/>
          <p:cNvGrpSpPr/>
          <p:nvPr/>
        </p:nvGrpSpPr>
        <p:grpSpPr>
          <a:xfrm>
            <a:off x="198000" y="899038"/>
            <a:ext cx="4139400" cy="1921025"/>
            <a:chOff x="198000" y="737450"/>
            <a:chExt cx="4139400" cy="1921025"/>
          </a:xfrm>
        </p:grpSpPr>
        <p:sp>
          <p:nvSpPr>
            <p:cNvPr id="58" name="Google Shape;58;p13"/>
            <p:cNvSpPr txBox="1"/>
            <p:nvPr/>
          </p:nvSpPr>
          <p:spPr>
            <a:xfrm>
              <a:off x="198000" y="737450"/>
              <a:ext cx="4139400" cy="164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25" lIns="45725" spcFirstLastPara="1" rIns="45725" wrap="square" tIns="457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pt-BR" sz="4500">
                  <a:solidFill>
                    <a:srgbClr val="1A202C"/>
                  </a:solidFill>
                  <a:latin typeface="Noto Serif Bengali"/>
                  <a:ea typeface="Noto Serif Bengali"/>
                  <a:cs typeface="Noto Serif Bengali"/>
                  <a:sym typeface="Noto Serif Bengali"/>
                </a:rPr>
                <a:t>Case técnico</a:t>
              </a:r>
              <a:endParaRPr sz="4500">
                <a:solidFill>
                  <a:srgbClr val="1A202C"/>
                </a:solidFill>
                <a:latin typeface="Noto Serif Bengali"/>
                <a:ea typeface="Noto Serif Bengali"/>
                <a:cs typeface="Noto Serif Bengali"/>
                <a:sym typeface="Noto Serif Bengali"/>
              </a:endParaRPr>
            </a:p>
            <a:p>
              <a:pPr indent="0" lvl="0" marL="0" rtl="0" algn="l">
                <a:lnSpc>
                  <a:spcPct val="90000"/>
                </a:lnSpc>
                <a:spcBef>
                  <a:spcPts val="800"/>
                </a:spcBef>
                <a:spcAft>
                  <a:spcPts val="8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pt-BR" sz="4500">
                  <a:solidFill>
                    <a:srgbClr val="1A202C"/>
                  </a:solidFill>
                  <a:latin typeface="Noto Serif Bengali"/>
                  <a:ea typeface="Noto Serif Bengali"/>
                  <a:cs typeface="Noto Serif Bengali"/>
                  <a:sym typeface="Noto Serif Bengali"/>
                </a:rPr>
                <a:t>	</a:t>
              </a:r>
              <a:r>
                <a:rPr lang="pt-BR" sz="4000">
                  <a:solidFill>
                    <a:srgbClr val="1A202C"/>
                  </a:solidFill>
                  <a:latin typeface="Noto Serif Bengali"/>
                  <a:ea typeface="Noto Serif Bengali"/>
                  <a:cs typeface="Noto Serif Bengali"/>
                  <a:sym typeface="Noto Serif Bengali"/>
                </a:rPr>
                <a:t> Data Science</a:t>
              </a:r>
              <a:endParaRPr sz="1600">
                <a:solidFill>
                  <a:srgbClr val="1A202C"/>
                </a:solidFill>
                <a:latin typeface="Noto Serif Bengali"/>
                <a:ea typeface="Noto Serif Bengali"/>
                <a:cs typeface="Noto Serif Bengali"/>
                <a:sym typeface="Noto Serif Bengali"/>
              </a:endParaRPr>
            </a:p>
          </p:txBody>
        </p:sp>
        <p:sp>
          <p:nvSpPr>
            <p:cNvPr id="59" name="Google Shape;59;p13"/>
            <p:cNvSpPr txBox="1"/>
            <p:nvPr/>
          </p:nvSpPr>
          <p:spPr>
            <a:xfrm>
              <a:off x="251725" y="2229775"/>
              <a:ext cx="37557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pt-BR" sz="900">
                  <a:latin typeface="Montserrat"/>
                  <a:ea typeface="Montserrat"/>
                  <a:cs typeface="Montserrat"/>
                  <a:sym typeface="Montserrat"/>
                </a:rPr>
                <a:t>Análise da</a:t>
              </a:r>
              <a:r>
                <a:rPr lang="pt-BR" sz="900">
                  <a:latin typeface="Montserrat"/>
                  <a:ea typeface="Montserrat"/>
                  <a:cs typeface="Montserrat"/>
                  <a:sym typeface="Montserrat"/>
                </a:rPr>
                <a:t> distribuição de cupons e ofertas para clientes</a:t>
              </a:r>
              <a:endParaRPr sz="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60" name="Google Shape;60;p13"/>
          <p:cNvSpPr txBox="1"/>
          <p:nvPr/>
        </p:nvSpPr>
        <p:spPr>
          <a:xfrm>
            <a:off x="4626425" y="160525"/>
            <a:ext cx="4139400" cy="5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2500">
                <a:solidFill>
                  <a:srgbClr val="1A202C"/>
                </a:solidFill>
                <a:latin typeface="Noto Serif Bengali"/>
                <a:ea typeface="Noto Serif Bengali"/>
                <a:cs typeface="Noto Serif Bengali"/>
                <a:sym typeface="Noto Serif Bengali"/>
              </a:rPr>
              <a:t>Visão geral</a:t>
            </a:r>
            <a:endParaRPr sz="2500">
              <a:solidFill>
                <a:srgbClr val="1A202C"/>
              </a:solidFill>
              <a:latin typeface="Noto Serif Bengali"/>
              <a:ea typeface="Noto Serif Bengali"/>
              <a:cs typeface="Noto Serif Bengali"/>
              <a:sym typeface="Noto Serif Bengal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/>
        </p:nvSpPr>
        <p:spPr>
          <a:xfrm>
            <a:off x="3900" y="0"/>
            <a:ext cx="9136200" cy="509700"/>
          </a:xfrm>
          <a:prstGeom prst="rect">
            <a:avLst/>
          </a:prstGeom>
          <a:solidFill>
            <a:srgbClr val="F9F2E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82825" y="20114"/>
            <a:ext cx="50223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2700">
                <a:solidFill>
                  <a:srgbClr val="1A202C"/>
                </a:solidFill>
                <a:latin typeface="Noto Serif Bengali"/>
                <a:ea typeface="Noto Serif Bengali"/>
                <a:cs typeface="Noto Serif Bengali"/>
                <a:sym typeface="Noto Serif Bengali"/>
              </a:rPr>
              <a:t>Desempenho das Ofertas </a:t>
            </a:r>
            <a:endParaRPr sz="5600">
              <a:solidFill>
                <a:srgbClr val="1A202C"/>
              </a:solidFill>
              <a:latin typeface="Noto Serif Bengali"/>
              <a:ea typeface="Noto Serif Bengali"/>
              <a:cs typeface="Noto Serif Bengali"/>
              <a:sym typeface="Noto Serif Bengali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9200" y="4460275"/>
            <a:ext cx="683225" cy="68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69800" y="1901671"/>
            <a:ext cx="5518751" cy="3239502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 txBox="1"/>
          <p:nvPr/>
        </p:nvSpPr>
        <p:spPr>
          <a:xfrm>
            <a:off x="230850" y="633010"/>
            <a:ext cx="8682300" cy="11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●"/>
            </a:pPr>
            <a:r>
              <a:rPr lang="pt-BR" sz="1100">
                <a:latin typeface="Montserrat"/>
                <a:ea typeface="Montserrat"/>
                <a:cs typeface="Montserrat"/>
                <a:sym typeface="Montserrat"/>
              </a:rPr>
              <a:t>O </a:t>
            </a:r>
            <a:r>
              <a:rPr b="1" lang="pt-BR" sz="1100">
                <a:latin typeface="Montserrat"/>
                <a:ea typeface="Montserrat"/>
                <a:cs typeface="Montserrat"/>
                <a:sym typeface="Montserrat"/>
              </a:rPr>
              <a:t>valor mínimo</a:t>
            </a:r>
            <a:r>
              <a:rPr lang="pt-BR" sz="1100">
                <a:latin typeface="Montserrat"/>
                <a:ea typeface="Montserrat"/>
                <a:cs typeface="Montserrat"/>
                <a:sym typeface="Montserrat"/>
              </a:rPr>
              <a:t> de compra é o </a:t>
            </a:r>
            <a:r>
              <a:rPr b="1" lang="pt-BR" sz="1100">
                <a:latin typeface="Montserrat"/>
                <a:ea typeface="Montserrat"/>
                <a:cs typeface="Montserrat"/>
                <a:sym typeface="Montserrat"/>
              </a:rPr>
              <a:t>principal fator de performance</a:t>
            </a:r>
            <a:r>
              <a:rPr lang="pt-BR" sz="1100">
                <a:latin typeface="Montserrat"/>
                <a:ea typeface="Montserrat"/>
                <a:cs typeface="Montserrat"/>
                <a:sym typeface="Montserrat"/>
              </a:rPr>
              <a:t> e define o equilíbrio entre conversão e receita líquida</a:t>
            </a:r>
            <a:br>
              <a:rPr lang="pt-BR" sz="1100">
                <a:latin typeface="Montserrat"/>
                <a:ea typeface="Montserrat"/>
                <a:cs typeface="Montserrat"/>
                <a:sym typeface="Montserrat"/>
              </a:rPr>
            </a:br>
            <a:endParaRPr sz="700"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●"/>
            </a:pPr>
            <a:r>
              <a:rPr lang="pt-BR" sz="1100">
                <a:latin typeface="Montserrat"/>
                <a:ea typeface="Montserrat"/>
                <a:cs typeface="Montserrat"/>
                <a:sym typeface="Montserrat"/>
              </a:rPr>
              <a:t>Ofertas com </a:t>
            </a:r>
            <a:r>
              <a:rPr b="1" lang="pt-BR" sz="1100">
                <a:latin typeface="Montserrat"/>
                <a:ea typeface="Montserrat"/>
                <a:cs typeface="Montserrat"/>
                <a:sym typeface="Montserrat"/>
              </a:rPr>
              <a:t>ticket mínimo elevado reduzem a conversão</a:t>
            </a:r>
            <a:r>
              <a:rPr lang="pt-BR" sz="1100">
                <a:latin typeface="Montserrat"/>
                <a:ea typeface="Montserrat"/>
                <a:cs typeface="Montserrat"/>
                <a:sym typeface="Montserrat"/>
              </a:rPr>
              <a:t>, mas </a:t>
            </a:r>
            <a:r>
              <a:rPr b="1" lang="pt-BR" sz="1100">
                <a:latin typeface="Montserrat"/>
                <a:ea typeface="Montserrat"/>
                <a:cs typeface="Montserrat"/>
                <a:sym typeface="Montserrat"/>
              </a:rPr>
              <a:t>maximizam a receita média</a:t>
            </a:r>
            <a:r>
              <a:rPr lang="pt-BR" sz="1100">
                <a:latin typeface="Montserrat"/>
                <a:ea typeface="Montserrat"/>
                <a:cs typeface="Montserrat"/>
                <a:sym typeface="Montserrat"/>
              </a:rPr>
              <a:t>, enquanto tickets menores ampliam escala</a:t>
            </a:r>
            <a:br>
              <a:rPr lang="pt-BR" sz="1100">
                <a:latin typeface="Montserrat"/>
                <a:ea typeface="Montserrat"/>
                <a:cs typeface="Montserrat"/>
                <a:sym typeface="Montserrat"/>
              </a:rPr>
            </a:br>
            <a:endParaRPr sz="700"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●"/>
            </a:pPr>
            <a:r>
              <a:rPr lang="pt-BR" sz="1100">
                <a:latin typeface="Montserrat"/>
                <a:ea typeface="Montserrat"/>
                <a:cs typeface="Montserrat"/>
                <a:sym typeface="Montserrat"/>
              </a:rPr>
              <a:t>As ofertas de </a:t>
            </a:r>
            <a:r>
              <a:rPr b="1" lang="pt-BR" sz="1100">
                <a:latin typeface="Montserrat"/>
                <a:ea typeface="Montserrat"/>
                <a:cs typeface="Montserrat"/>
                <a:sym typeface="Montserrat"/>
              </a:rPr>
              <a:t>desconto</a:t>
            </a:r>
            <a:r>
              <a:rPr lang="pt-BR" sz="1100">
                <a:latin typeface="Montserrat"/>
                <a:ea typeface="Montserrat"/>
                <a:cs typeface="Montserrat"/>
                <a:sym typeface="Montserrat"/>
              </a:rPr>
              <a:t> apresentam </a:t>
            </a:r>
            <a:r>
              <a:rPr b="1" lang="pt-BR" sz="1100">
                <a:latin typeface="Montserrat"/>
                <a:ea typeface="Montserrat"/>
                <a:cs typeface="Montserrat"/>
                <a:sym typeface="Montserrat"/>
              </a:rPr>
              <a:t>desempenho superior em receita</a:t>
            </a:r>
            <a:r>
              <a:rPr lang="pt-BR" sz="1100">
                <a:latin typeface="Montserrat"/>
                <a:ea typeface="Montserrat"/>
                <a:cs typeface="Montserrat"/>
                <a:sym typeface="Montserrat"/>
              </a:rPr>
              <a:t> quando comparadas às promoções “compre um e leve outro”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70" name="Google Shape;70;p14"/>
          <p:cNvGrpSpPr/>
          <p:nvPr/>
        </p:nvGrpSpPr>
        <p:grpSpPr>
          <a:xfrm>
            <a:off x="321832" y="4680156"/>
            <a:ext cx="1359478" cy="308644"/>
            <a:chOff x="444682" y="2085381"/>
            <a:chExt cx="1359478" cy="308644"/>
          </a:xfrm>
        </p:grpSpPr>
        <p:sp>
          <p:nvSpPr>
            <p:cNvPr id="71" name="Google Shape;71;p14"/>
            <p:cNvSpPr txBox="1"/>
            <p:nvPr/>
          </p:nvSpPr>
          <p:spPr>
            <a:xfrm>
              <a:off x="444682" y="2141850"/>
              <a:ext cx="153600" cy="92100"/>
            </a:xfrm>
            <a:prstGeom prst="rect">
              <a:avLst/>
            </a:prstGeom>
            <a:solidFill>
              <a:srgbClr val="8A8FA3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72" name="Google Shape;72;p14"/>
            <p:cNvSpPr txBox="1"/>
            <p:nvPr/>
          </p:nvSpPr>
          <p:spPr>
            <a:xfrm>
              <a:off x="444682" y="2301925"/>
              <a:ext cx="153600" cy="92100"/>
            </a:xfrm>
            <a:prstGeom prst="rect">
              <a:avLst/>
            </a:prstGeom>
            <a:solidFill>
              <a:srgbClr val="BDBDBD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73" name="Google Shape;73;p14"/>
            <p:cNvSpPr txBox="1"/>
            <p:nvPr/>
          </p:nvSpPr>
          <p:spPr>
            <a:xfrm>
              <a:off x="605960" y="2085381"/>
              <a:ext cx="1198200" cy="25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>
                  <a:latin typeface="Montserrat"/>
                  <a:ea typeface="Montserrat"/>
                  <a:cs typeface="Montserrat"/>
                  <a:sym typeface="Montserrat"/>
                </a:rPr>
                <a:t>Ofertas de desconto</a:t>
              </a:r>
              <a:br>
                <a:rPr lang="pt-BR" sz="800">
                  <a:latin typeface="Montserrat"/>
                  <a:ea typeface="Montserrat"/>
                  <a:cs typeface="Montserrat"/>
                  <a:sym typeface="Montserrat"/>
                </a:rPr>
              </a:br>
              <a:endParaRPr sz="2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>
                  <a:latin typeface="Montserrat"/>
                  <a:ea typeface="Montserrat"/>
                  <a:cs typeface="Montserrat"/>
                  <a:sym typeface="Montserrat"/>
                </a:rPr>
                <a:t>Ofertas </a:t>
              </a:r>
              <a:r>
                <a:rPr i="1" lang="pt-BR" sz="800">
                  <a:latin typeface="Montserrat"/>
                  <a:ea typeface="Montserrat"/>
                  <a:cs typeface="Montserrat"/>
                  <a:sym typeface="Montserrat"/>
                </a:rPr>
                <a:t>Bogo</a:t>
              </a:r>
              <a:endParaRPr i="1" sz="8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74" name="Google Shape;74;p14"/>
          <p:cNvSpPr txBox="1"/>
          <p:nvPr/>
        </p:nvSpPr>
        <p:spPr>
          <a:xfrm>
            <a:off x="230850" y="2556396"/>
            <a:ext cx="1857300" cy="13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latin typeface="Noto Serif Bengali"/>
                <a:ea typeface="Noto Serif Bengali"/>
                <a:cs typeface="Noto Serif Bengali"/>
                <a:sym typeface="Noto Serif Bengali"/>
              </a:rPr>
              <a:t>Conceitos</a:t>
            </a:r>
            <a:br>
              <a:rPr b="1" lang="pt-BR" sz="800">
                <a:latin typeface="Noto Serif Bengali"/>
                <a:ea typeface="Noto Serif Bengali"/>
                <a:cs typeface="Noto Serif Bengali"/>
                <a:sym typeface="Noto Serif Bengali"/>
              </a:rPr>
            </a:br>
            <a:endParaRPr b="1" sz="800">
              <a:latin typeface="Noto Serif Bengali"/>
              <a:ea typeface="Noto Serif Bengali"/>
              <a:cs typeface="Noto Serif Bengali"/>
              <a:sym typeface="Noto Serif Bengali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●"/>
            </a:pPr>
            <a:r>
              <a:rPr lang="pt-BR" sz="800">
                <a:latin typeface="Montserrat"/>
                <a:ea typeface="Montserrat"/>
                <a:cs typeface="Montserrat"/>
                <a:sym typeface="Montserrat"/>
              </a:rPr>
              <a:t>Receita líquida: valor da compra após a aplicação do desconto.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●"/>
            </a:pPr>
            <a:r>
              <a:rPr lang="pt-BR" sz="800">
                <a:latin typeface="Montserrat"/>
                <a:ea typeface="Montserrat"/>
                <a:cs typeface="Montserrat"/>
                <a:sym typeface="Montserrat"/>
              </a:rPr>
              <a:t>Conversão: número de compras realizadas com a oferta dividido pelo total de ofertas enviadas</a:t>
            </a:r>
            <a:br>
              <a:rPr lang="pt-BR" sz="800">
                <a:latin typeface="Montserrat"/>
                <a:ea typeface="Montserrat"/>
                <a:cs typeface="Montserrat"/>
                <a:sym typeface="Montserrat"/>
              </a:rPr>
            </a:b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●"/>
            </a:pPr>
            <a:r>
              <a:rPr lang="pt-BR" sz="800">
                <a:latin typeface="Montserrat"/>
                <a:ea typeface="Montserrat"/>
                <a:cs typeface="Montserrat"/>
                <a:sym typeface="Montserrat"/>
              </a:rPr>
              <a:t>Uma compra pode utilizar mais de uma oferta, caso atenda os requisitos</a:t>
            </a:r>
            <a:br>
              <a:rPr lang="pt-BR" sz="800">
                <a:latin typeface="Montserrat"/>
                <a:ea typeface="Montserrat"/>
                <a:cs typeface="Montserrat"/>
                <a:sym typeface="Montserrat"/>
              </a:rPr>
            </a:b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2E8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/>
        </p:nvSpPr>
        <p:spPr>
          <a:xfrm>
            <a:off x="136575" y="89200"/>
            <a:ext cx="6051000" cy="5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2700">
                <a:solidFill>
                  <a:srgbClr val="1A202C"/>
                </a:solidFill>
                <a:latin typeface="Noto Serif Bengali"/>
                <a:ea typeface="Noto Serif Bengali"/>
                <a:cs typeface="Noto Serif Bengali"/>
                <a:sym typeface="Noto Serif Bengali"/>
              </a:rPr>
              <a:t>Resultados </a:t>
            </a:r>
            <a:endParaRPr sz="2700">
              <a:solidFill>
                <a:srgbClr val="1A202C"/>
              </a:solidFill>
              <a:latin typeface="Noto Serif Bengali"/>
              <a:ea typeface="Noto Serif Bengali"/>
              <a:cs typeface="Noto Serif Bengali"/>
              <a:sym typeface="Noto Serif Bengali"/>
            </a:endParaRP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9200" y="4460275"/>
            <a:ext cx="683225" cy="68322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/>
        </p:nvSpPr>
        <p:spPr>
          <a:xfrm>
            <a:off x="1934502" y="1078075"/>
            <a:ext cx="2548800" cy="878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chemeClr val="dk2"/>
                </a:solidFill>
              </a:rPr>
              <a:t>R$ 1,7 M</a:t>
            </a:r>
            <a:r>
              <a:rPr lang="pt-BR" sz="1800">
                <a:solidFill>
                  <a:schemeClr val="dk2"/>
                </a:solidFill>
              </a:rPr>
              <a:t> </a:t>
            </a:r>
            <a:br>
              <a:rPr lang="pt-BR" sz="1800">
                <a:solidFill>
                  <a:schemeClr val="dk2"/>
                </a:solidFill>
              </a:rPr>
            </a:br>
            <a:r>
              <a:rPr lang="pt-BR" sz="1800">
                <a:solidFill>
                  <a:schemeClr val="dk2"/>
                </a:solidFill>
              </a:rPr>
              <a:t>Receita em compras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1934502" y="2168763"/>
            <a:ext cx="2548800" cy="878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chemeClr val="dk2"/>
                </a:solidFill>
              </a:rPr>
              <a:t>R$ 1,08 M </a:t>
            </a:r>
            <a:r>
              <a:rPr lang="pt-BR" sz="1700">
                <a:solidFill>
                  <a:schemeClr val="dk2"/>
                </a:solidFill>
              </a:rPr>
              <a:t>(62%)</a:t>
            </a:r>
            <a:r>
              <a:rPr lang="pt-BR" sz="1800">
                <a:solidFill>
                  <a:schemeClr val="dk2"/>
                </a:solidFill>
              </a:rPr>
              <a:t> Compras com </a:t>
            </a:r>
            <a:r>
              <a:rPr b="1" lang="pt-BR" sz="1800">
                <a:solidFill>
                  <a:schemeClr val="dk2"/>
                </a:solidFill>
              </a:rPr>
              <a:t>oferta</a:t>
            </a:r>
            <a:endParaRPr b="1" sz="1800">
              <a:solidFill>
                <a:schemeClr val="dk2"/>
              </a:solidFill>
            </a:endParaRPr>
          </a:p>
        </p:txBody>
      </p:sp>
      <p:pic>
        <p:nvPicPr>
          <p:cNvPr id="83" name="Google Shape;83;p15" title="promo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1150" y="2333225"/>
            <a:ext cx="477050" cy="47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5" title="money-bag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81151" y="1278750"/>
            <a:ext cx="477050" cy="4770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 txBox="1"/>
          <p:nvPr/>
        </p:nvSpPr>
        <p:spPr>
          <a:xfrm>
            <a:off x="1934502" y="3259450"/>
            <a:ext cx="2548800" cy="878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chemeClr val="dk2"/>
                </a:solidFill>
              </a:rPr>
              <a:t>R$ 161 k</a:t>
            </a:r>
            <a:br>
              <a:rPr lang="pt-BR" sz="1800">
                <a:solidFill>
                  <a:schemeClr val="dk2"/>
                </a:solidFill>
              </a:rPr>
            </a:br>
            <a:r>
              <a:rPr lang="pt-BR" sz="1800">
                <a:solidFill>
                  <a:schemeClr val="dk2"/>
                </a:solidFill>
              </a:rPr>
              <a:t>Desconto</a:t>
            </a:r>
            <a:endParaRPr b="1" sz="1800">
              <a:solidFill>
                <a:schemeClr val="dk2"/>
              </a:solidFill>
            </a:endParaRPr>
          </a:p>
        </p:txBody>
      </p:sp>
      <p:pic>
        <p:nvPicPr>
          <p:cNvPr id="86" name="Google Shape;86;p15" title="discoun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81152" y="3460125"/>
            <a:ext cx="477050" cy="4770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5"/>
          <p:cNvSpPr txBox="1"/>
          <p:nvPr/>
        </p:nvSpPr>
        <p:spPr>
          <a:xfrm>
            <a:off x="5527900" y="1078075"/>
            <a:ext cx="3047100" cy="31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latin typeface="Noto Serif Bengali"/>
                <a:ea typeface="Noto Serif Bengali"/>
                <a:cs typeface="Noto Serif Bengali"/>
                <a:sym typeface="Noto Serif Bengali"/>
              </a:rPr>
              <a:t>Insights</a:t>
            </a:r>
            <a:br>
              <a:rPr b="1" lang="pt-BR" sz="1100">
                <a:latin typeface="Noto Serif Bengali"/>
                <a:ea typeface="Noto Serif Bengali"/>
                <a:cs typeface="Noto Serif Bengali"/>
                <a:sym typeface="Noto Serif Bengali"/>
              </a:rPr>
            </a:br>
            <a:endParaRPr b="1" sz="1100">
              <a:latin typeface="Noto Serif Bengali"/>
              <a:ea typeface="Noto Serif Bengali"/>
              <a:cs typeface="Noto Serif Bengali"/>
              <a:sym typeface="Noto Serif Bengali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●"/>
            </a:pPr>
            <a:r>
              <a:rPr lang="pt-BR" sz="1100">
                <a:latin typeface="Montserrat"/>
                <a:ea typeface="Montserrat"/>
                <a:cs typeface="Montserrat"/>
                <a:sym typeface="Montserrat"/>
              </a:rPr>
              <a:t>Ofertas são o principal motor de receita: </a:t>
            </a:r>
            <a:r>
              <a:rPr b="1" lang="pt-BR" sz="1100">
                <a:latin typeface="Montserrat"/>
                <a:ea typeface="Montserrat"/>
                <a:cs typeface="Montserrat"/>
                <a:sym typeface="Montserrat"/>
              </a:rPr>
              <a:t>62%</a:t>
            </a:r>
            <a:r>
              <a:rPr lang="pt-BR" sz="1100">
                <a:latin typeface="Montserrat"/>
                <a:ea typeface="Montserrat"/>
                <a:cs typeface="Montserrat"/>
                <a:sym typeface="Montserrat"/>
              </a:rPr>
              <a:t> da receita total vem de compras com uso de ofertas, mostrando forte impacto das promoções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●"/>
            </a:pPr>
            <a:r>
              <a:rPr lang="pt-BR" sz="1100">
                <a:latin typeface="Montserrat"/>
                <a:ea typeface="Montserrat"/>
                <a:cs typeface="Montserrat"/>
                <a:sym typeface="Montserrat"/>
              </a:rPr>
              <a:t>Descontos são eficientes: </a:t>
            </a:r>
            <a:r>
              <a:rPr b="1" lang="pt-BR" sz="1100">
                <a:latin typeface="Montserrat"/>
                <a:ea typeface="Montserrat"/>
                <a:cs typeface="Montserrat"/>
                <a:sym typeface="Montserrat"/>
              </a:rPr>
              <a:t>R$ 161 k</a:t>
            </a:r>
            <a:r>
              <a:rPr lang="pt-BR" sz="1100">
                <a:latin typeface="Montserrat"/>
                <a:ea typeface="Montserrat"/>
                <a:cs typeface="Montserrat"/>
                <a:sym typeface="Montserrat"/>
              </a:rPr>
              <a:t> em descontos geraram </a:t>
            </a:r>
            <a:r>
              <a:rPr b="1" lang="pt-BR" sz="1100">
                <a:latin typeface="Montserrat"/>
                <a:ea typeface="Montserrat"/>
                <a:cs typeface="Montserrat"/>
                <a:sym typeface="Montserrat"/>
              </a:rPr>
              <a:t>R$ 1,08 M</a:t>
            </a:r>
            <a:r>
              <a:rPr lang="pt-BR" sz="1100">
                <a:latin typeface="Montserrat"/>
                <a:ea typeface="Montserrat"/>
                <a:cs typeface="Montserrat"/>
                <a:sym typeface="Montserrat"/>
              </a:rPr>
              <a:t> em receita, indicando boa alavancagem do incentivo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pt-BR" sz="1100"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